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2E5FA3"/>
                </a:solidFill>
                <a:latin typeface="Calibri"/>
              </a:rPr>
              <a:t>MSc DATA ANALYSIS &amp; AI  ·  EDHEC BUSINESS SCHOOL  ·  MASTER THESIS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554480"/>
            <a:ext cx="8531352" cy="3175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003E7E"/>
                </a:solidFill>
                <a:latin typeface="Calibri"/>
              </a:rPr>
              <a:t>The Role of Weather in French Day-Ahead</a:t>
            </a:r>
          </a:p>
          <a:p>
            <a:pPr algn="ctr"/>
            <a:r>
              <a:rPr sz="3400" b="1" i="0">
                <a:solidFill>
                  <a:srgbClr val="003E7E"/>
                </a:solidFill>
                <a:latin typeface="Calibri"/>
              </a:rPr>
              <a:t>Electricity Price Forecasting</a:t>
            </a:r>
          </a:p>
          <a:p>
            <a:pPr algn="ctr">
              <a:spcBef>
                <a:spcPts val="1000"/>
              </a:spcBef>
            </a:pPr>
            <a:r>
              <a:rPr sz="2200" b="0" i="1">
                <a:solidFill>
                  <a:srgbClr val="2E5FA3"/>
                </a:solidFill>
                <a:latin typeface="Calibri"/>
              </a:rPr>
              <a:t>A Random Forest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886200"/>
            <a:ext cx="8531352" cy="3175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212529"/>
                </a:solidFill>
                <a:latin typeface="Calibri"/>
              </a:rPr>
              <a:t>Leo Cambreleng</a:t>
            </a:r>
            <a:r>
              <a:rPr sz="2000" b="1" i="0">
                <a:solidFill>
                  <a:srgbClr val="212529"/>
                </a:solidFill>
                <a:latin typeface="Calibri"/>
              </a:rPr>
              <a:t>        Lyam Oumedjeber</a:t>
            </a:r>
          </a:p>
          <a:p>
            <a:pPr algn="ctr">
              <a:spcBef>
                <a:spcPts val="120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Supervisor: Prof. Milos Vulanovic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6E6E6E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CONTEXT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forecast French day-ahead prices?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LÉO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46304" cy="86868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03E7E"/>
                </a:solidFill>
                <a:latin typeface="Calibri"/>
              </a:rPr>
              <a:t>Electricity cannot be stored at scale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212529"/>
                </a:solidFill>
                <a:latin typeface="Calibri"/>
              </a:rPr>
              <a:t>supply &amp; demand clear instantaneously every hour → extreme volatility, spikes up to several 000s EUR/MWh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33472"/>
            <a:ext cx="146304" cy="86868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87752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03E7E"/>
                </a:solidFill>
                <a:latin typeface="Calibri"/>
              </a:rPr>
              <a:t>France is a special market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212529"/>
                </a:solidFill>
                <a:latin typeface="Calibri"/>
              </a:rPr>
              <a:t>~63 GW nuclear (~70% of output); electric heating → ~2.4 GW/°C winter thermosensitivity — the highest in Europe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03904"/>
            <a:ext cx="146304" cy="86868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58184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03E7E"/>
                </a:solidFill>
                <a:latin typeface="Calibri"/>
              </a:rPr>
              <a:t>Forecasts have real economic stakes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212529"/>
                </a:solidFill>
                <a:latin typeface="Calibri"/>
              </a:rPr>
              <a:t>a 1 EUR/MWh accuracy gain on a 100 MW book ≈ 876,000 EUR/year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74336"/>
            <a:ext cx="146304" cy="86868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28616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03E7E"/>
                </a:solidFill>
                <a:latin typeface="Calibri"/>
              </a:rPr>
              <a:t>So: does weather actually help?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212529"/>
                </a:solidFill>
                <a:latin typeface="Calibri"/>
              </a:rPr>
              <a:t>temperature &amp; wind drive demand and renewable supply — but is that signal already priced in elsewhere?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we set out to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LÉO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0881360" cy="13716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32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1">
                <a:solidFill>
                  <a:srgbClr val="003E7E"/>
                </a:solidFill>
                <a:latin typeface="Calibri"/>
              </a:rPr>
              <a:t>“Do weather variables significantly improve the accuracy of French day-ahead electricity price forecasts — and does their contribution depend on the market regime?”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63240"/>
            <a:ext cx="502920" cy="64008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632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  <a:latin typeface="Calibri"/>
              </a:rPr>
              <a:t>Can ML (Random Forest, XGBoost) beat a naïve statistical benchmark?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67912"/>
            <a:ext cx="502920" cy="64008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67912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86791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  <a:latin typeface="Calibri"/>
              </a:rPr>
              <a:t>Do weather features add statistically significant value over fundamentals alone?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72584"/>
            <a:ext cx="502920" cy="64008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72584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67258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  <a:latin typeface="Calibri"/>
              </a:rPr>
              <a:t>Does that value differ between a stable regime (2024–25) and the 2022 crisis — and why?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477256"/>
            <a:ext cx="502920" cy="64008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77256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4772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  <a:latin typeface="Calibri"/>
              </a:rPr>
              <a:t>Can the forecasts be turned into real trading profit under realistic costs?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reproducible French dataset, 2018–2025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LÉO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5FA3"/>
                </a:solidFill>
                <a:latin typeface="Calibri"/>
              </a:rPr>
              <a:t>~64,000 hourly observations  ·  4 public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577840" cy="93268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128016" cy="932688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56232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3E7E"/>
                </a:solidFill>
                <a:latin typeface="Calibri"/>
              </a:rPr>
              <a:t>ENTSO-E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12529"/>
                </a:solidFill>
                <a:latin typeface="Calibri"/>
              </a:rPr>
              <a:t>Prices, load forecast, generation by source, cross-border flows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62072"/>
            <a:ext cx="5577840" cy="93268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62072"/>
            <a:ext cx="128016" cy="932688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35224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3E7E"/>
                </a:solidFill>
                <a:latin typeface="Calibri"/>
              </a:rPr>
              <a:t>ERA5 (ECMWF)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12529"/>
                </a:solidFill>
                <a:latin typeface="Calibri"/>
              </a:rPr>
              <a:t>Temperature, wind, solar irradiance, precipitation — spatial mean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41064"/>
            <a:ext cx="5577840" cy="93268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941064"/>
            <a:ext cx="128016" cy="932688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14216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3E7E"/>
                </a:solidFill>
                <a:latin typeface="Calibri"/>
              </a:rPr>
              <a:t>Fuel prices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12529"/>
                </a:solidFill>
                <a:latin typeface="Calibri"/>
              </a:rPr>
              <a:t>TTF natural gas (EUR/MWh), ARA coal (EUR/t)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20056"/>
            <a:ext cx="5577840" cy="93268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020056"/>
            <a:ext cx="128016" cy="932688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93208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3E7E"/>
                </a:solidFill>
                <a:latin typeface="Calibri"/>
              </a:rPr>
              <a:t>Engineered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12529"/>
                </a:solidFill>
                <a:latin typeface="Calibri"/>
              </a:rPr>
              <a:t>35 features: calendar, price lags, fundamentals, flows, weather, derived</a:t>
            </a:r>
          </a:p>
        </p:txBody>
      </p:sp>
      <p:pic>
        <p:nvPicPr>
          <p:cNvPr id="21" name="Picture 20" descr="price_series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651760"/>
            <a:ext cx="5486400" cy="1371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521208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1">
                <a:solidFill>
                  <a:srgbClr val="6E6E6E"/>
                </a:solidFill>
                <a:latin typeface="Calibri"/>
              </a:rPr>
              <a:t>Three regimes: pre-crisis (2018–21), the 2022 energy crisis (&gt;1,000 EUR/MWh), and normalisation (2023+).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nested four-model ablation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LÉO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914400" cy="96012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371600"/>
            <a:ext cx="9875520" cy="9601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46304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6E6E6E"/>
                </a:solidFill>
                <a:latin typeface="Calibri"/>
              </a:rPr>
              <a:t>Naïve benchmark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price 168h ago (same hour, last week)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371600"/>
            <a:ext cx="2194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1">
                <a:solidFill>
                  <a:srgbClr val="6E6E6E"/>
                </a:solidFill>
                <a:latin typeface="Calibri"/>
              </a:rPr>
              <a:t>The bar to beat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87168"/>
            <a:ext cx="914400" cy="96012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87168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2487168"/>
            <a:ext cx="9875520" cy="9601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578608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E5FA3"/>
                </a:solidFill>
                <a:latin typeface="Calibri"/>
              </a:rPr>
              <a:t>RF without weather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27 features — no meteorology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487168"/>
            <a:ext cx="2194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1">
                <a:solidFill>
                  <a:srgbClr val="2E5FA3"/>
                </a:solidFill>
                <a:latin typeface="Calibri"/>
              </a:rPr>
              <a:t>Ablation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02736"/>
            <a:ext cx="914400" cy="96012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02736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3602736"/>
            <a:ext cx="9875520" cy="9601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3694176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E7E"/>
                </a:solidFill>
                <a:latin typeface="Calibri"/>
              </a:rPr>
              <a:t>RF with weather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35 features — full meteorology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602736"/>
            <a:ext cx="2194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1">
                <a:solidFill>
                  <a:srgbClr val="003E7E"/>
                </a:solidFill>
                <a:latin typeface="Calibri"/>
              </a:rPr>
              <a:t>Main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18304"/>
            <a:ext cx="914400" cy="960120"/>
          </a:xfrm>
          <a:prstGeom prst="rect">
            <a:avLst/>
          </a:prstGeom>
          <a:solidFill>
            <a:srgbClr val="B45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18304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4718304"/>
            <a:ext cx="9875520" cy="9601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4809744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B45F1E"/>
                </a:solidFill>
                <a:latin typeface="Calibri"/>
              </a:rPr>
              <a:t>XGBoost with weather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same 35 features, boosted trees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18304"/>
            <a:ext cx="2194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1">
                <a:solidFill>
                  <a:srgbClr val="B45F1E"/>
                </a:solidFill>
                <a:latin typeface="Calibri"/>
              </a:rPr>
              <a:t>More expressive?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3E7E"/>
                </a:solidFill>
                <a:latin typeface="Calibri"/>
              </a:rPr>
              <a:t>Key comparison:  </a:t>
            </a:r>
            <a:r>
              <a:rPr sz="1500" b="0" i="0">
                <a:solidFill>
                  <a:srgbClr val="212529"/>
                </a:solidFill>
                <a:latin typeface="Calibri"/>
              </a:rPr>
              <a:t>C vs B isolates the marginal value of weather.  Evaluated out-of-sample with the Diebold-Mariano test (HLN-corrected).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RESULTS — STABLE REGIME (MAY 2024–APR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Machine learning works; weather barely moves the needle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LÉO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852160" cy="56692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417320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417320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417320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417320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Hit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84248"/>
            <a:ext cx="58521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984248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  <a:latin typeface="Calibri"/>
              </a:rPr>
              <a:t>A — Naïve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984248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33.09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984248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44.23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984248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0.160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1984248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59.6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51176"/>
            <a:ext cx="5852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551176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  <a:latin typeface="Calibri"/>
              </a:rPr>
              <a:t>B — RF no weather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551176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16.95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551176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22.88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551176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0.775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2551176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65.5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18104"/>
            <a:ext cx="5852160" cy="566928"/>
          </a:xfrm>
          <a:prstGeom prst="rect">
            <a:avLst/>
          </a:prstGeom>
          <a:solidFill>
            <a:srgbClr val="D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118104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03E7E"/>
                </a:solidFill>
                <a:latin typeface="Calibri"/>
              </a:rPr>
              <a:t>C — RF weather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3118104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03E7E"/>
                </a:solidFill>
                <a:latin typeface="Calibri"/>
              </a:rPr>
              <a:t>16.94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118104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03E7E"/>
                </a:solidFill>
                <a:latin typeface="Calibri"/>
              </a:rPr>
              <a:t>22.85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118104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03E7E"/>
                </a:solidFill>
                <a:latin typeface="Calibri"/>
              </a:rPr>
              <a:t>0.776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118104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03E7E"/>
                </a:solidFill>
                <a:latin typeface="Calibri"/>
              </a:rPr>
              <a:t>65.4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685032"/>
            <a:ext cx="5852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85032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  <a:latin typeface="Calibri"/>
              </a:rPr>
              <a:t>D — XGBoost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3685032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19.14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3685032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28.18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685032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0.659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3685032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65.8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43484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228B4C"/>
                </a:solidFill>
                <a:latin typeface="Calibri"/>
              </a:rPr>
              <a:t>− 49% MAE</a:t>
            </a:r>
            <a:r>
              <a:rPr sz="1500" b="0" i="0">
                <a:solidFill>
                  <a:srgbClr val="212529"/>
                </a:solidFill>
                <a:latin typeface="Calibri"/>
              </a:rPr>
              <a:t> vs naïve (33.1 → 16.9 EUR/MWh), R² 0.16 → 0.78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3E7E"/>
                </a:solidFill>
                <a:latin typeface="Calibri"/>
              </a:rPr>
              <a:t>Weather C vs B: </a:t>
            </a:r>
            <a:r>
              <a:rPr sz="1500" b="0" i="0">
                <a:solidFill>
                  <a:srgbClr val="212529"/>
                </a:solidFill>
                <a:latin typeface="Calibri"/>
              </a:rPr>
              <a:t>MAE −0.01 EUR/MWh — negligible</a:t>
            </a:r>
          </a:p>
          <a:p>
            <a:pPr algn="l"/>
            <a:r>
              <a:rPr sz="1500" b="0" i="0">
                <a:solidFill>
                  <a:srgbClr val="212529"/>
                </a:solidFill>
                <a:latin typeface="Calibri"/>
              </a:rPr>
              <a:t>XGBoost underperforms RF here</a:t>
            </a:r>
          </a:p>
        </p:txBody>
      </p:sp>
      <p:pic>
        <p:nvPicPr>
          <p:cNvPr id="39" name="Picture 38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914684"/>
            <a:ext cx="5394960" cy="148583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CENTRAL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Weather is not statistically significant — in the stable regime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LÉO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1051560"/>
          </a:xfrm>
          <a:prstGeom prst="rect">
            <a:avLst/>
          </a:prstGeom>
          <a:solidFill>
            <a:srgbClr val="D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003E7E"/>
                </a:solidFill>
                <a:latin typeface="Calibri"/>
              </a:rPr>
              <a:t>Diebold-Mariano  C vs B:   </a:t>
            </a:r>
            <a:r>
              <a:rPr sz="1900" b="1" i="0">
                <a:solidFill>
                  <a:srgbClr val="C0392B"/>
                </a:solidFill>
                <a:latin typeface="Calibri"/>
              </a:rPr>
              <a:t>p = 0.572   (DM = −0.565)   →   fail to reject equal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10881360" cy="5486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5806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69748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DM stat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9748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p-value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69748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Sig.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10881360" cy="548640"/>
          </a:xfrm>
          <a:prstGeom prst="rect">
            <a:avLst/>
          </a:prstGeom>
          <a:solidFill>
            <a:srgbClr val="FA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5806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C vs B — does weather add value?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24612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−0.565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4612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0.572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324612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n.s.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94760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5806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  <a:latin typeface="Calibri"/>
              </a:rPr>
              <a:t>C vs A — RF-weather beats naïve?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79476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−53.53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79476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&lt;0.001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379476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***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10881360" cy="54864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343400"/>
            <a:ext cx="5806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  <a:latin typeface="Calibri"/>
              </a:rPr>
              <a:t>B vs A — RF-no-weather beats naïve?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34340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−53.44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34340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&lt;0.001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434340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***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92040"/>
            <a:ext cx="5806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  <a:latin typeface="Calibri"/>
              </a:rPr>
              <a:t>D vs C — XGBoost vs RF-weather?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89204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+10.88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89204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&lt;0.001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89204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***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3E7E"/>
                </a:solidFill>
                <a:latin typeface="Calibri"/>
              </a:rPr>
              <a:t>ML adds robust value; weather does not — yet.  </a:t>
            </a:r>
            <a:r>
              <a:rPr sz="1500" b="0" i="1">
                <a:solidFill>
                  <a:srgbClr val="6E6E6E"/>
                </a:solidFill>
                <a:latin typeface="Calibri"/>
              </a:rPr>
              <a:t>Why? And is this always true? → over to Lyam.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Where does the predictive power come from?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LYAM</a:t>
            </a:r>
          </a:p>
        </p:txBody>
      </p:sp>
      <p:pic>
        <p:nvPicPr>
          <p:cNvPr id="8" name="Picture 7" descr="feature_importance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2354"/>
            <a:ext cx="6675120" cy="46333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417320"/>
            <a:ext cx="44805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3E7E"/>
                </a:solidFill>
                <a:latin typeface="Calibri"/>
              </a:rPr>
              <a:t>Price lags dominate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lag-24h alone = 20.7% of importance; lags + rolling means ≈ 70%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3E7E"/>
                </a:solidFill>
                <a:latin typeface="Calibri"/>
              </a:rPr>
              <a:t>Fuel prices matter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TTF gas 8.3%, ARA coal 6.0%, nuclear availability ~1.9%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Weather is small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all weather features combined ≈ 2.2% of total importance</a:t>
            </a:r>
          </a:p>
          <a:p>
            <a:pPr algn="l"/>
            <a:r>
              <a:rPr sz="1400" b="0" i="1">
                <a:solidFill>
                  <a:srgbClr val="2E5FA3"/>
                </a:solidFill>
                <a:latin typeface="Calibri"/>
              </a:rPr>
              <a:t>→ consistent with the DM test: weather signal is already captured by load forecast &amp; TTF.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Information Redundancy Hypothesis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LYAM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Weather looks redundant because its signal is already encoded in other features: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881360" cy="1143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46304" cy="11430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67128"/>
            <a:ext cx="10332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Load forecast ≡ temperature</a:t>
            </a:r>
          </a:p>
          <a:p>
            <a:pPr algn="l">
              <a:spcBef>
                <a:spcPts val="300"/>
              </a:spcBef>
            </a:pPr>
            <a:r>
              <a:rPr sz="1450" b="0" i="0">
                <a:solidFill>
                  <a:srgbClr val="212529"/>
                </a:solidFill>
                <a:latin typeface="Calibri"/>
              </a:rPr>
              <a:t>RTE's published load forecast is built on temperature forecasts — including it implicitly conditions on weather-driven demand.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10881360" cy="1143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146304" cy="11430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93008"/>
            <a:ext cx="10332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TTF gas ≡ European weather</a:t>
            </a:r>
          </a:p>
          <a:p>
            <a:pPr algn="l">
              <a:spcBef>
                <a:spcPts val="300"/>
              </a:spcBef>
            </a:pPr>
            <a:r>
              <a:rPr sz="1450" b="0" i="0">
                <a:solidFill>
                  <a:srgbClr val="212529"/>
                </a:solidFill>
                <a:latin typeface="Calibri"/>
              </a:rPr>
              <a:t>Gas prices rise with pan-European heating demand — the commodity market aggregates the weather signal.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09160"/>
            <a:ext cx="10881360" cy="1143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709160"/>
            <a:ext cx="146304" cy="11430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18888"/>
            <a:ext cx="10332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Nuclear dominance</a:t>
            </a:r>
          </a:p>
          <a:p>
            <a:pPr algn="l">
              <a:spcBef>
                <a:spcPts val="300"/>
              </a:spcBef>
            </a:pPr>
            <a:r>
              <a:rPr sz="1450" b="0" i="0">
                <a:solidFill>
                  <a:srgbClr val="212529"/>
                </a:solidFill>
                <a:latin typeface="Calibri"/>
              </a:rPr>
              <a:t>The nuclear availability ratio explains a large share of price variance independently of weather.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ROBUSTNESS — 2022 ENERGY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result reverses: weather becomes highly significant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LYAM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6E6E6E"/>
                </a:solidFill>
                <a:latin typeface="Calibri"/>
              </a:rPr>
              <a:t>Models retrained on 2018–2021, tested on full-year 2022 (strict temporal split).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2788920" cy="141732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2788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Stable 2024–25</a:t>
            </a:r>
          </a:p>
          <a:p>
            <a:pPr algn="ctr">
              <a:spcBef>
                <a:spcPts val="60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p = 0.572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E1EBF5"/>
                </a:solidFill>
                <a:latin typeface="Calibri"/>
              </a:rPr>
              <a:t>DM = −0.565  ·  n.s.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2788920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938528"/>
            <a:ext cx="2788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Crisis 2022</a:t>
            </a:r>
          </a:p>
          <a:p>
            <a:pPr algn="ctr">
              <a:spcBef>
                <a:spcPts val="60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p &lt; 0.001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E1EBF5"/>
                </a:solidFill>
                <a:latin typeface="Calibri"/>
              </a:rPr>
              <a:t>DM = −13.27  ·  ***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74720"/>
            <a:ext cx="5760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3E7E"/>
                </a:solidFill>
                <a:latin typeface="Calibri"/>
              </a:rPr>
              <a:t>What happens in 2022: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All models degrade sharply — MAE 16.9 → 66.6 EUR/MWh (~4×)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But C now beats B by 0.73 EUR/MWh, highly significant</a:t>
            </a:r>
          </a:p>
          <a:p>
            <a:pPr algn="l"/>
            <a:r>
              <a:rPr sz="1400" b="0" i="0">
                <a:solidFill>
                  <a:srgbClr val="212529"/>
                </a:solidFill>
                <a:latin typeface="Calibri"/>
              </a:rPr>
              <a:t>XGBoost degrades most (+14.6% vs RF) — RF is the robust choice</a:t>
            </a:r>
          </a:p>
        </p:txBody>
      </p:sp>
      <p:pic>
        <p:nvPicPr>
          <p:cNvPr id="14" name="Picture 13" descr="model_comparison_2022_vs_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05756"/>
            <a:ext cx="5486400" cy="21951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the crisis breaks the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LYAM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The same three channels that made weather redundant break down in 2022: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548640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48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011680"/>
            <a:ext cx="10195560" cy="10972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121408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003E7E"/>
                </a:solidFill>
                <a:latin typeface="Calibri"/>
              </a:rPr>
              <a:t>TTF decouples from local weather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The Russian gas supply shock drove TTF by geopolitics, not French temperature — the gas–weather link snaps.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548640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48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3291840"/>
            <a:ext cx="10195560" cy="10972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3401568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003E7E"/>
                </a:solidFill>
                <a:latin typeface="Calibri"/>
              </a:rPr>
              <a:t>Nuclear constraints amplify demand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With availability ~40%, there is no headroom to absorb cold-driven demand surges → temperature feeds straight into price.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72000"/>
            <a:ext cx="548640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548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4572000"/>
            <a:ext cx="10195560" cy="10972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4681728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003E7E"/>
                </a:solidFill>
                <a:latin typeface="Calibri"/>
              </a:rPr>
              <a:t>Signal-to-noise rises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When prices swing by hundreds of EUR/MWh, the direct temperature–demand effect becomes large enough to measure.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3E7E"/>
                </a:solidFill>
                <a:latin typeface="Calibri"/>
              </a:rPr>
              <a:t>Takeaway:  </a:t>
            </a:r>
            <a:r>
              <a:rPr sz="1500" b="0" i="1">
                <a:solidFill>
                  <a:srgbClr val="212529"/>
                </a:solidFill>
                <a:latin typeface="Calibri"/>
              </a:rPr>
              <a:t>the value of weather is regime-dependent — a dynamic, not a permanent, modelling choice.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ECONOMIC VALUE — TRADING BACKTEST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Do better forecasts make money?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LYAM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760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E6E6E"/>
                </a:solidFill>
                <a:latin typeface="Calibri"/>
              </a:rPr>
              <a:t>Day-ahead directional strategy, central cost 0.30 EUR/MWh, 1 MW position.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760720" cy="5486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1828800"/>
            <a:ext cx="12070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Net P&amp;L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1828800"/>
            <a:ext cx="7955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Sharpe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28800"/>
            <a:ext cx="8869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MaxDD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3832" y="1828800"/>
            <a:ext cx="7498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Calmar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377440"/>
            <a:ext cx="5760720" cy="54864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37744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12529"/>
                </a:solidFill>
                <a:latin typeface="Calibri"/>
              </a:rPr>
              <a:t>A — Naïve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2377440"/>
            <a:ext cx="12070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85,482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377440"/>
            <a:ext cx="7955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377440"/>
            <a:ext cx="8869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2,367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2" y="2377440"/>
            <a:ext cx="7498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26080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92608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12529"/>
                </a:solidFill>
                <a:latin typeface="Calibri"/>
              </a:rPr>
              <a:t>B — RF no wx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4872" y="2926080"/>
            <a:ext cx="12070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136,884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2" y="2926080"/>
            <a:ext cx="7955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19.4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926080"/>
            <a:ext cx="8869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433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3832" y="2926080"/>
            <a:ext cx="7498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321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74720"/>
            <a:ext cx="5760720" cy="548640"/>
          </a:xfrm>
          <a:prstGeom prst="rect">
            <a:avLst/>
          </a:prstGeom>
          <a:solidFill>
            <a:srgbClr val="D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47472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3E7E"/>
                </a:solidFill>
                <a:latin typeface="Calibri"/>
              </a:rPr>
              <a:t>C — RF wx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04872" y="3474720"/>
            <a:ext cx="12070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03E7E"/>
                </a:solidFill>
                <a:latin typeface="Calibri"/>
              </a:rPr>
              <a:t>136,711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3474720"/>
            <a:ext cx="7955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03E7E"/>
                </a:solidFill>
                <a:latin typeface="Calibri"/>
              </a:rPr>
              <a:t>19.5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474720"/>
            <a:ext cx="8869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03E7E"/>
                </a:solidFill>
                <a:latin typeface="Calibri"/>
              </a:rPr>
              <a:t>422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13832" y="3474720"/>
            <a:ext cx="7498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03E7E"/>
                </a:solidFill>
                <a:latin typeface="Calibri"/>
              </a:rPr>
              <a:t>328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023360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02336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12529"/>
                </a:solidFill>
                <a:latin typeface="Calibri"/>
              </a:rPr>
              <a:t>D — 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04872" y="4023360"/>
            <a:ext cx="12070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142,012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85032" y="4023360"/>
            <a:ext cx="7955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18.8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4023360"/>
            <a:ext cx="8869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1,351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13832" y="4023360"/>
            <a:ext cx="7498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754880"/>
            <a:ext cx="5760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28B4C"/>
                </a:solidFill>
                <a:latin typeface="Calibri"/>
              </a:rPr>
              <a:t>RF ≈ 137k EUR/MW</a:t>
            </a:r>
            <a:r>
              <a:rPr sz="1350" b="0" i="0">
                <a:solidFill>
                  <a:srgbClr val="212529"/>
                </a:solidFill>
                <a:latin typeface="Calibri"/>
              </a:rPr>
              <a:t> vs 85k naïve; long-only ≈ 0 → real skill, not trend</a:t>
            </a:r>
          </a:p>
          <a:p>
            <a:pPr algn="l"/>
            <a:r>
              <a:rPr sz="1500" b="1" i="0">
                <a:solidFill>
                  <a:srgbClr val="228B4C"/>
                </a:solidFill>
                <a:latin typeface="Calibri"/>
              </a:rPr>
              <a:t>RF drawdown 5.6× smaller</a:t>
            </a:r>
            <a:r>
              <a:rPr sz="1350" b="0" i="0">
                <a:solidFill>
                  <a:srgbClr val="212529"/>
                </a:solidFill>
                <a:latin typeface="Calibri"/>
              </a:rPr>
              <a:t> than naïve; positive Sharpe every single month</a:t>
            </a:r>
          </a:p>
        </p:txBody>
      </p:sp>
      <p:pic>
        <p:nvPicPr>
          <p:cNvPr id="40" name="Picture 39" descr="equity_curves_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48799"/>
            <a:ext cx="5486400" cy="250904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Four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LYAM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48640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486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1371600"/>
            <a:ext cx="10195560" cy="10515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46304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ML beats naïve, decisively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−49% MAE, R² 0.78, p &lt; 0.001 — robust across all 12 months.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96896"/>
            <a:ext cx="548640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96896"/>
            <a:ext cx="5486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2596896"/>
            <a:ext cx="10195560" cy="10515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2688336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Weather is regime-dependent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n.s. in the stable regime (redundancy), but significant in the 2022 crisis (redundancy breaks). The core contribution.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22192"/>
            <a:ext cx="548640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22192"/>
            <a:ext cx="5486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3822192"/>
            <a:ext cx="10195560" cy="10515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913632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Random Forest &gt; XGBoost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RF wins on risk-adjusted metrics (Calmar 328 vs 107) and degrades less under stress.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47488"/>
            <a:ext cx="548640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47488"/>
            <a:ext cx="5486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5047488"/>
            <a:ext cx="10195560" cy="10515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5138928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Forecasts create real value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~137k EUR/MW net, Sharpe ~19.5, tiny drawdown — robust to transaction costs.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377440"/>
            <a:ext cx="8531352" cy="3175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Bef>
                <a:spcPts val="1000"/>
              </a:spcBef>
            </a:pPr>
            <a:r>
              <a:rPr sz="2200" b="0" i="1">
                <a:solidFill>
                  <a:srgbClr val="B4CDE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297680"/>
            <a:ext cx="8531352" cy="3175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Leo Cambreleng  ·  Lyam Oumedjeber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B4CDEB"/>
                </a:solidFill>
                <a:latin typeface="Calibri"/>
              </a:rPr>
              <a:t>Supervisor: Prof. Milos Vulanovic  ·  EDHEC MSc Data Analysis &amp;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