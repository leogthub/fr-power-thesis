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393192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FORECASTING DAY-AHEAD ELECTRICITY PRICES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 FRANCE:
WHEN DOES WEATHER MATTER?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Master Thesis Defense  —  MSc Data Analytics &amp;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5371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Lyam Oumedjeber  &amp;  Leo Cambreleng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109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A032"/>
                </a:solidFill>
                <a:latin typeface="Calibri"/>
              </a:rPr>
              <a:t>Thesis Director: Prof. Milos Vulanovic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498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  <a:latin typeface="Calibri"/>
              </a:rPr>
              <a:t>EDHEC Business School  |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20-minute presentation · Questions &amp; discussion to follow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17904"/>
            <a:ext cx="457200" cy="45720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17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536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Why this topic? — The French electricity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153619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A8D"/>
                </a:solidFill>
                <a:latin typeface="Calibri"/>
              </a:rPr>
              <a:t>1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57984"/>
            <a:ext cx="457200" cy="457200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579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Our data — What we measured and 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217627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A8D"/>
                </a:solidFill>
                <a:latin typeface="Calibri"/>
              </a:rPr>
              <a:t>2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98064"/>
            <a:ext cx="457200" cy="45720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98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8163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Four forecasting models — How they were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281635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A8D"/>
                </a:solidFill>
                <a:latin typeface="Calibri"/>
              </a:rPr>
              <a:t>3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38144"/>
            <a:ext cx="4572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381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4564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Results — The weather paradox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34564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A8D"/>
                </a:solidFill>
                <a:latin typeface="Calibri"/>
              </a:rPr>
              <a:t>5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78224"/>
            <a:ext cx="457200" cy="45720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782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0965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The 2022 energy crisis — When weather changed everything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409651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A8D"/>
                </a:solidFill>
                <a:latin typeface="Calibri"/>
              </a:rPr>
              <a:t>4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18304"/>
            <a:ext cx="457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7183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47365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Trading test — Does better forecasting make money?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473659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A8D"/>
                </a:solidFill>
                <a:latin typeface="Calibri"/>
              </a:rPr>
              <a:t>3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58384"/>
            <a:ext cx="457200" cy="45720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3583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3766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Conclusions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537667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A8D"/>
                </a:solidFill>
                <a:latin typeface="Calibri"/>
              </a:rPr>
              <a:t>2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01 — Why This Topic?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The French electricity market, briefly explained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99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255"/>
                </a:solidFill>
                <a:latin typeface="Calibri"/>
              </a:rPr>
              <a:t>What is the day-ahead electricity market?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8379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Every day at noon, energy producers and buyers
submit bids for each hour of the next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4144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13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 single price is set for each of the 24 hours — the clearing 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16936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France's market (EPEX SPOT) is the 2nd largest
in Europe: €40 billion traded per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9242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2644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Prices are highly volatile: from −€100 to +€4,000/MWh
(especially during the 2022 energy crisis)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67912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739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France is unique: ~70% nuclear — very different
dynamics from Germany or the UK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2153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Academic research on France is scarce —
most studies focus on Germany or Scandinavia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399032"/>
            <a:ext cx="5760720" cy="28346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1399032"/>
            <a:ext cx="5760720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1490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Our Research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1837944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"Do weather data improve electricity
price forecasts for France —
and does the answer change depending
on the market conditions?"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3708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255"/>
                </a:solidFill>
                <a:latin typeface="Calibri"/>
              </a:rPr>
              <a:t>Four specific questions: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4892040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2" y="476402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SQ1  Can machine learning beat a simple baseline?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531266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51846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SQ2  Does adding weather improve ML forecasts?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573328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5352" y="560527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SQ3  Does the weather effect depend on the market context?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6153912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6025896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SQ4  Does a better forecast translate into real trading profits?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02 — 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64,224 hourly observations · May 2018 – April 2025 · 3 data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99032"/>
            <a:ext cx="3758184" cy="5486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99032"/>
            <a:ext cx="3758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Grid &amp; Market Data
(ENTSO-E)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47672"/>
            <a:ext cx="3758184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221992"/>
            <a:ext cx="91440" cy="91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093976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Hourly electricity prices (what we forecast)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34056"/>
            <a:ext cx="91440" cy="91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606040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Demand forecasts published by RTE (French TSO)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246120"/>
            <a:ext cx="91440" cy="91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118104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Power generation: gas, nuclear, hydro, solar, wind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58184"/>
            <a:ext cx="91440" cy="91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630168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Cross-border electricity flows (DE, ES, GB, BE)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1399032"/>
            <a:ext cx="3758184" cy="548640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97096" y="1399032"/>
            <a:ext cx="3758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Historical Weather
(ERA5 — Copernicus)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7096" y="1947672"/>
            <a:ext cx="3758184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8536" y="2221992"/>
            <a:ext cx="91440" cy="91440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2093976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Temperature at 2m across France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8536" y="2734056"/>
            <a:ext cx="91440" cy="91440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2606040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Solar radiation (sunshine hours proxy)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8536" y="3246120"/>
            <a:ext cx="91440" cy="91440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118104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Wind speed (wind power proxy)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88536" y="3758184"/>
            <a:ext cx="91440" cy="91440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3630168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Precipitation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4152" y="1399032"/>
            <a:ext cx="3758184" cy="5486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4152" y="1399032"/>
            <a:ext cx="3758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Energy Commodity
Prices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1947672"/>
            <a:ext cx="3758184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65592" y="2221992"/>
            <a:ext cx="91440" cy="91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0184" y="2093976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Natural gas — TTF hub (EUR/MWh)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65592" y="2734056"/>
            <a:ext cx="91440" cy="91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4" y="2606040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Coal — API2 benchmark (EUR/t)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65592" y="3246120"/>
            <a:ext cx="91440" cy="91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0184" y="3118104"/>
            <a:ext cx="3483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Derived: Heating Degree Days (cold spells)
based on 17°C threshold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449824"/>
            <a:ext cx="274320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449824"/>
            <a:ext cx="64008" cy="89611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" y="5504688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255"/>
                </a:solidFill>
                <a:latin typeface="Calibri"/>
              </a:rPr>
              <a:t>64,224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" y="5961888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hourly data points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56432" y="5449824"/>
            <a:ext cx="274320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56432" y="5449824"/>
            <a:ext cx="64008" cy="89611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5504688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255"/>
                </a:solidFill>
                <a:latin typeface="Calibri"/>
              </a:rPr>
              <a:t>7 years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5961888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2018 – 2025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47104" y="5449824"/>
            <a:ext cx="274320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47104" y="5449824"/>
            <a:ext cx="64008" cy="89611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5504688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255"/>
                </a:solidFill>
                <a:latin typeface="Calibri"/>
              </a:rPr>
              <a:t>19 variables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961888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incl. 4 weather measures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37776" y="5449824"/>
            <a:ext cx="274320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37776" y="5449824"/>
            <a:ext cx="64008" cy="89611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65792" y="5504688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255"/>
                </a:solidFill>
                <a:latin typeface="Calibri"/>
              </a:rPr>
              <a:t>8,640 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65792" y="5961888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8D"/>
                </a:solidFill>
                <a:latin typeface="Calibri"/>
              </a:rPr>
              <a:t>held-out test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03 — Four Forecasting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Key design: Models B and C are identical except for weather — that isolates its exact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399032"/>
            <a:ext cx="2788920" cy="54864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3990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Model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16733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Simple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947672"/>
            <a:ext cx="27889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94767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A8D"/>
                </a:solidFill>
                <a:latin typeface="Calibri"/>
              </a:rPr>
              <a:t>"Same as last week"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203704"/>
            <a:ext cx="2788920" cy="230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13432"/>
            <a:ext cx="2587752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Forecast = price at the
same hour, 7 days ago
No machine learning.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4507992"/>
            <a:ext cx="2788920" cy="27432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45079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Lower bound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1399032"/>
            <a:ext cx="2788920" cy="548640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13990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Model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16733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1947672"/>
            <a:ext cx="27889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194767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6BB4"/>
                </a:solidFill>
                <a:latin typeface="Calibri"/>
              </a:rPr>
              <a:t>Without weather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203704"/>
            <a:ext cx="2788920" cy="230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4408" y="2313432"/>
            <a:ext cx="2587752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500 decision trees
voting together.
All data except
weather variables.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4507992"/>
            <a:ext cx="2788920" cy="274320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45079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Tests ML value alone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1399032"/>
            <a:ext cx="2788920" cy="5486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13990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Model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16733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53328" y="1947672"/>
            <a:ext cx="27889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194767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255"/>
                </a:solidFill>
                <a:latin typeface="Calibri"/>
              </a:rPr>
              <a:t>With weather  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3328" y="2203704"/>
            <a:ext cx="2788920" cy="230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2313432"/>
            <a:ext cx="2587752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Same 500 trees,
same setup as B.
All data including
weather variables.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53328" y="4507992"/>
            <a:ext cx="2788920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45079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Our main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51976" y="1399032"/>
            <a:ext cx="2788920" cy="5486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51976" y="13990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Model 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16733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51976" y="1947672"/>
            <a:ext cx="27889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1976" y="194767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Calibri"/>
              </a:rPr>
              <a:t>With weather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51976" y="2203704"/>
            <a:ext cx="2788920" cy="230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1704" y="2313432"/>
            <a:ext cx="2587752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Gradient boosting
(different ML technique).
All data including
weather variables.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51976" y="4507992"/>
            <a:ext cx="2788920" cy="274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51976" y="45079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Alternative ML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946904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032"/>
                </a:solidFill>
                <a:latin typeface="Calibri"/>
              </a:rPr>
              <a:t>B vs C  =  pure weather effect  (everything else identical)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542239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A8D"/>
                </a:solidFill>
                <a:latin typeface="Calibri"/>
              </a:rPr>
              <a:t>Train: 2018 – April 2024 (50,184 h)   |   Test: May 2024 – April 2025 (8,640 h)   |   Strict time order — no peeking at future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04 — Forecasting Results: Normal Market (May 2024 – Apr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MAE = average error in €/MWh  |  R² = share of price variation explained  |  Hit rate = % of correct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99032"/>
          <a:ext cx="9875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46304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Avg. Error (MAE)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Fit (R²)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Error % (sMAPE)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Direction OK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A — Baseline (last week)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33.09 €/MWh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70.9%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59.6%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B — ML without weather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16.95 €/MWh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44.2%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65.5%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C — ML with weather  ★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16.94 €/MWh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44.2%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65.4%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D — XGBoost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19.14 €/MWh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45.4%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65.8%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" y="3913632"/>
            <a:ext cx="379476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913632"/>
            <a:ext cx="73152" cy="16642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3986784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Calibri"/>
              </a:rPr>
              <a:t>SQ1 ✓  ML is twice as accurate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4370832"/>
            <a:ext cx="3593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ML cuts the average error from 33 to 17 €/MWh.
R² jumps from 0.16 to 0.78: we now explain 78% of price swings.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3913632"/>
            <a:ext cx="379476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3913632"/>
            <a:ext cx="73152" cy="16642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3986784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SQ2 — A surprise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4370832"/>
            <a:ext cx="3593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Models B and C are virtually identical.
Adding weather data changes almost nothing.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3913632"/>
            <a:ext cx="379476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3913632"/>
            <a:ext cx="73152" cy="166420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3986784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032"/>
                </a:solidFill>
                <a:latin typeface="Calibri"/>
              </a:rPr>
              <a:t>The real question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4370832"/>
            <a:ext cx="3593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Is weather truly useless?
Or is it already hidden inside other variables?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04 — Is the Difference Real? Statistical Significance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Diebold-Mariano test — asks: are two models genuinely different, or just lucky?  |  p-value &lt; 0.05 = significant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399032"/>
          <a:ext cx="964691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  <a:gridCol w="1371600"/>
                <a:gridCol w="1371600"/>
                <a:gridCol w="187451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tests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DM stat.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C vs B</a:t>
                      </a:r>
                    </a:p>
                    <a:p>
                      <a:r>
                        <a:t>(weather vs no weather)</a:t>
                      </a:r>
                    </a:p>
                  </a:txBody>
                  <a:tcPr>
                    <a:solidFill>
                      <a:srgbClr val="FFEC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Does weather add anything?</a:t>
                      </a:r>
                    </a:p>
                  </a:txBody>
                  <a:tcPr>
                    <a:solidFill>
                      <a:srgbClr val="FFEC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−0.565</a:t>
                      </a:r>
                    </a:p>
                  </a:txBody>
                  <a:tcPr>
                    <a:solidFill>
                      <a:srgbClr val="FFEC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0.572</a:t>
                      </a:r>
                    </a:p>
                  </a:txBody>
                  <a:tcPr>
                    <a:solidFill>
                      <a:srgbClr val="FFEC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No difference</a:t>
                      </a:r>
                    </a:p>
                  </a:txBody>
                  <a:tcPr>
                    <a:solidFill>
                      <a:srgbClr val="FFEC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C vs A</a:t>
                      </a:r>
                    </a:p>
                    <a:p>
                      <a:r>
                        <a:t>(ML vs baseline)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Is ML better than last week?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−12.481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Yes ✓✓✓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B vs A</a:t>
                      </a:r>
                    </a:p>
                    <a:p>
                      <a:r>
                        <a:t>(ML vs baseline)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ML without weather vs baseline?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−12.456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Yes ✓✓✓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D vs C</a:t>
                      </a:r>
                    </a:p>
                    <a:p>
                      <a:r>
                        <a:t>(XGBoost vs RF)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Is XGBoost better than RF?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+3.847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XGB higher err.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3886200"/>
            <a:ext cx="11475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→  Weather makes no statistically significant difference in a normal market (p = 0.572 &gt;&gt; 0.05)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06824"/>
            <a:ext cx="11475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255"/>
                </a:solidFill>
                <a:latin typeface="Calibri"/>
              </a:rPr>
              <a:t>Why? — The Information Redundancy Hypothesis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709160"/>
            <a:ext cx="73152" cy="658368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255"/>
                </a:solidFill>
                <a:latin typeface="Calibri"/>
              </a:rPr>
              <a:t>Gas price (8.3% of model importance)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9834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Gas demand rises with cold weather → gas price already encodes temperature.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4709160"/>
            <a:ext cx="73152" cy="6583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255"/>
                </a:solidFill>
                <a:latin typeface="Calibri"/>
              </a:rPr>
              <a:t>RTE demand forecast (top variable)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9834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France's grid operator uses weather models internally → demand forecast IS a weather proxy.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33364"/>
            <a:ext cx="73152" cy="658368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333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255"/>
                </a:solidFill>
                <a:latin typeface="Calibri"/>
              </a:rPr>
              <a:t>Price lags (70% of importance)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7076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In a calm market, yesterday's price predicts tomorrow's better than weather.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5433364"/>
            <a:ext cx="73152" cy="6583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4333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255"/>
                </a:solidFill>
                <a:latin typeface="Calibri"/>
              </a:rPr>
              <a:t>Raw weather data (ERA5, all 4 variables)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7076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Only 2.2% of importance — marginal once gas price and demand are in the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04 — What Does the Model Actually Use?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Variable importance in the Random Forest (Model C) — how much each group contributes to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99032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The chart on the right shows what the model relies
on most when predicting tomorrow's price:
Price patterns (lags) dominate at 70%
→ Electricity prices are mean-reverting: 'similar
    hour last week' is a strong signal.
Gas price contributes 8.3%, coal 6.0%
→ These fuel costs drive marginal plant costs.
    They already embed the weather signal.
All 4 weather variables combined: only 2.2%
→ Not because weather doesn't matter in reality —
    but because it's already captured indirectly.
Conclusion: weather is useful information,
but it arrives encoded in other variables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32588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255"/>
                </a:solidFill>
                <a:latin typeface="Calibri"/>
              </a:rPr>
              <a:t>Contribution to forecast accuracy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673352"/>
            <a:ext cx="3931920" cy="402336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73352"/>
            <a:ext cx="38770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70.0%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167335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Price lags (7 variables)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203704"/>
            <a:ext cx="466213" cy="402336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20370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TTF gas 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734056"/>
            <a:ext cx="337021" cy="402336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273405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Coal API2 price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264408"/>
            <a:ext cx="325787" cy="402336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26440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Demand forecast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794760"/>
            <a:ext cx="252766" cy="402336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379476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Cross-border 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325112"/>
            <a:ext cx="179744" cy="402336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32511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Generation mix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4855464"/>
            <a:ext cx="123574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855464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Weather — ERA5 (4 vars)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5385816"/>
            <a:ext cx="5669280" cy="457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5477256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8D"/>
                </a:solidFill>
                <a:latin typeface="Calibri"/>
              </a:rPr>
              <a:t>In a normal market: focus on gas prices
and demand data, not weather feeds.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05 — The 2022 Energy Crisis: Weather Finally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Same models, same test method — applied to the crisis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99032"/>
            <a:ext cx="11475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We re-ran the test on 2022 — and got the opposite result: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837944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237744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measured</a:t>
                      </a:r>
                    </a:p>
                  </a:txBody>
                  <a:tcPr>
                    <a:solidFill>
                      <a:srgbClr val="A0202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Normal market (2024-25)</a:t>
                      </a:r>
                    </a:p>
                  </a:txBody>
                  <a:tcPr>
                    <a:solidFill>
                      <a:srgbClr val="A0202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Crisis year (2022)</a:t>
                      </a:r>
                    </a:p>
                  </a:txBody>
                  <a:tcPr>
                    <a:solidFill>
                      <a:srgbClr val="A0202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A0202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Average error (MAE)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17 €/MWh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67 €/MWh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3.9× harder to forecast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Model fit (R²)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0.78  (78% explained)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0.48  (48%)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Much less predictable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Weather adds value?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No  (p = 0.572)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YES  (p &lt; 0.001)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Complete reversal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DM statistic (C vs B)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−0.565  →  n.s.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−13.27  →  ✓✓✓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Statistically certain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617720"/>
            <a:ext cx="11475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255"/>
                </a:solidFill>
                <a:latin typeface="Calibri"/>
              </a:rPr>
              <a:t>Why did the result flip?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66360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38344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Gas prices went haywire (Russia war) — they no longer tracked weather demand, breaking the proxy.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568696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440680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30 GW of French nuclear capacity was offline at once (corrosion crisis) — another proxy lost.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971032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843016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With both 'weather encoders' broken, the model needed direct weather data to fill the gap.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373368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245352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Result: adding weather cut the error by ≈15% in 2022 — both statistically and economically significant.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05 — Our Core Finding: Weather Value Depends on Market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The Information Redundancy Hypothesis — weather matters only when its proxies break 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99032"/>
            <a:ext cx="5394960" cy="4370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99032"/>
            <a:ext cx="5394960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4904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Calibri"/>
              </a:rPr>
              <a:t>NORMAL MARKET  (2024-25)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929384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Gas price tracks cold weather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31343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libri"/>
              </a:rPr>
              <a:t>↳  Gas price = indirect weather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2697480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Demand forecasts built with weather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3081528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libri"/>
              </a:rPr>
              <a:t>↳  Demand forecast = another weather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3465576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Nuclear output is stable and predictable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423367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libri"/>
              </a:rPr>
              <a:t>Direct weather data → REDUNDANT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" y="4617720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Statistical test: p = 0.572  (no difference)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5001768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MAE improvement from weather: &lt; 0.1%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88152" y="1399032"/>
            <a:ext cx="548640" cy="43708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8152" y="3227832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032"/>
                </a:solidFill>
                <a:latin typeface="Calibri"/>
              </a:rPr>
              <a:t>REGIME
SHIFT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1399032"/>
            <a:ext cx="5394960" cy="4370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9944" y="1399032"/>
            <a:ext cx="53949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14904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CRISIS MARKET  (2022)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929384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Gas prices disconnected from cold weather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31343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↳  Gas price proxy BROKEN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97480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30 GW nuclear offline (corrosion crisis)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081528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↳  Demand forecast less reliable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465576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Price patterns become chaotic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23367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Direct weather data → ESSENTIAL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617720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Statistical test: p &lt; 0.001  (clear difference)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001768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DM statistic: −13.27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879592"/>
            <a:ext cx="11548872" cy="585216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916168"/>
            <a:ext cx="111831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THESIS CONTRIBUTION: Weather data should be treated as a RISK MANAGEMENT signal, not a routine forecasting input. It matters most precisely when markets break down.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06 — Trading Backtest: Turning Forecasts into Trades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EPEX SPOT France day-ahead  |  1 MW virtual position  |  May 2024 – April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99032"/>
            <a:ext cx="5596128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99032"/>
            <a:ext cx="73152" cy="21488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72184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255"/>
                </a:solidFill>
                <a:latin typeface="Calibri"/>
              </a:rPr>
              <a:t>Trading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56232"/>
            <a:ext cx="537667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Rule: if our forecast for tomorrow (hour h) is
higher than today's actual price → BUY  (+1)
lower than today's actual price → SELL (−1)
signal(h) = sign[ forecast(h, tomorrow) − actual(h, today) ]
Safety filter: if predicted move &lt; 2 €/MWh → no trade
(transaction costs would exceed expected profit)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4184" y="1399032"/>
            <a:ext cx="5824728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4184" y="1399032"/>
            <a:ext cx="73152" cy="21488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472184"/>
            <a:ext cx="5605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255"/>
                </a:solidFill>
                <a:latin typeface="Calibri"/>
              </a:rPr>
              <a:t>Profit &amp;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856232"/>
            <a:ext cx="560527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Gross profit(h) = signal × [actual(h, tomorrow) − actual(h, today)]
Net profit(h) = Gross − transaction cost × |signal|
Position: 1 MW  ·  No borrowing or leverage
Units: euros per hour  (1 MW × 1 h × €/MWh)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703320"/>
            <a:ext cx="11475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255"/>
                </a:solidFill>
                <a:latin typeface="Calibri"/>
              </a:rPr>
              <a:t>Transaction Cost Scenarios (EPEX SPOT official fee schedule)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105656"/>
            <a:ext cx="3849624" cy="3657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05656"/>
            <a:ext cx="3712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Optimistic  —  0.10 €/MWh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471416"/>
            <a:ext cx="3849624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44568"/>
            <a:ext cx="37124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Exchange fee only. Large participant.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4" y="4105656"/>
            <a:ext cx="3849624" cy="36576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1104" y="4105656"/>
            <a:ext cx="3712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Central  —  0.30 €/MWh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9664" y="4471416"/>
            <a:ext cx="3849624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4544568"/>
            <a:ext cx="37124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Fee + bid-ask spread. Typical trader.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9288" y="4105656"/>
            <a:ext cx="3849624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4105656"/>
            <a:ext cx="3712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Pessimistic  —  0.60 €/MWh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4471416"/>
            <a:ext cx="3849624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8" y="4544568"/>
            <a:ext cx="371246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Central + settlement risk. Upper bound.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715000"/>
            <a:ext cx="11475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  <a:latin typeface="Calibri"/>
              </a:rPr>
              <a:t>Risk metrics: Sharpe ratio = (avg daily P&amp;L ÷ daily volatility) × √365  |  Max Drawdown = biggest loss streak in €/MW  |  Calmar = yearly profit ÷ max drawdown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06 — Trading Results: Central Cost Scenario (0.30 €/MWh)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12-month test · 1 MW position · Net of transaction costs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7160" y="1399032"/>
          <a:ext cx="9354312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1188720"/>
                <a:gridCol w="1645920"/>
                <a:gridCol w="987552"/>
                <a:gridCol w="868680"/>
                <a:gridCol w="8229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Profit (€/MW/yr)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Sharpe ratio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Worst loss (€/MW)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Calmar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Win rate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A — Baseline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85,482 €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2,367 €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B — ML w/o weather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136,884 €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19.4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433 €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321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C — ML with weather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136,711 €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19.5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422 €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328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D — XGBoost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142,012 €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18.8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1,351 €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Buy-and-hold ref.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−76 €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4,521 €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37160" y="4233672"/>
            <a:ext cx="290779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4233672"/>
            <a:ext cx="73152" cy="16916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4306824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libri"/>
              </a:rPr>
              <a:t>ML earns 60% 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" y="4672584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136K€ vs 85K€ per year for 1 MW.
Buy-and-hold earns nothing → it's pure skill.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4233672"/>
            <a:ext cx="290779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27248" y="4233672"/>
            <a:ext cx="73152" cy="16916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2" y="4306824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255"/>
                </a:solidFill>
                <a:latin typeface="Calibri"/>
              </a:rPr>
              <a:t>RF has far less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4672584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Worst drawdown: RF = 422€, XGBoost = 1,351€.
Calmar: RF = 328 vs XGBoost = 107.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7336" y="4233672"/>
            <a:ext cx="290779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17336" y="4233672"/>
            <a:ext cx="73152" cy="1691640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306824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6BB4"/>
                </a:solidFill>
                <a:latin typeface="Calibri"/>
              </a:rPr>
              <a:t>Weather still 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672584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136,884€ vs 136,711€ — nearly identical.
Economic confirmation of the statistical test.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07424" y="4233672"/>
            <a:ext cx="290779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07424" y="4233672"/>
            <a:ext cx="73152" cy="16916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4306824"/>
            <a:ext cx="2706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A032"/>
                </a:solidFill>
                <a:latin typeface="Calibri"/>
              </a:rPr>
              <a:t>Robust across cost levels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4672584"/>
            <a:ext cx="27066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Sharpe ratio changes by only 0.5 points
from cheapest to most expensive cost scenario.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06 — Is It Consistent? Robustness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Monthly performance  |  Cost sensitivity  |  12 months with no cherry-picking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3990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255"/>
                </a:solidFill>
                <a:latin typeface="Calibri"/>
              </a:rPr>
              <a:t>Monthly Sharpe ratio — each calendar month, independently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7498079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" y="3984193"/>
            <a:ext cx="174955" cy="816406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139" y="3182035"/>
            <a:ext cx="174955" cy="1618564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9094" y="2664866"/>
            <a:ext cx="174955" cy="2135733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May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4023" y="3817391"/>
            <a:ext cx="174955" cy="983208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28979" y="2803169"/>
            <a:ext cx="174955" cy="199743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03934" y="2910459"/>
            <a:ext cx="174955" cy="1890141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87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Jun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78863" y="3301898"/>
            <a:ext cx="174955" cy="1498701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53819" y="2430170"/>
            <a:ext cx="174955" cy="2370429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8774" y="2306955"/>
            <a:ext cx="174955" cy="2493645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6971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Jul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03703" y="4136745"/>
            <a:ext cx="174955" cy="663854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78658" y="3415893"/>
            <a:ext cx="174955" cy="1384706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53614" y="3376498"/>
            <a:ext cx="174955" cy="1424101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5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Aug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28543" y="3363087"/>
            <a:ext cx="174955" cy="1437512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03498" y="2517343"/>
            <a:ext cx="174955" cy="2283256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78454" y="1953234"/>
            <a:ext cx="174955" cy="2847365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939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Sep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3383" y="3508933"/>
            <a:ext cx="174955" cy="1291666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28338" y="2878607"/>
            <a:ext cx="174955" cy="1921992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03293" y="2626309"/>
            <a:ext cx="174955" cy="217429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423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Oct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78223" y="3466185"/>
            <a:ext cx="174955" cy="1334414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3178" y="3300222"/>
            <a:ext cx="174955" cy="1500377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28133" y="3098215"/>
            <a:ext cx="174955" cy="17023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6907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Nov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3063" y="3964076"/>
            <a:ext cx="174955" cy="836523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78018" y="2965780"/>
            <a:ext cx="174955" cy="1834819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52973" y="2598648"/>
            <a:ext cx="174955" cy="2201951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9391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Dec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27903" y="4306900"/>
            <a:ext cx="174955" cy="493699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02858" y="3320338"/>
            <a:ext cx="174955" cy="1480261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77813" y="3097377"/>
            <a:ext cx="174955" cy="170322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1875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Jan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52743" y="4472863"/>
            <a:ext cx="174955" cy="327736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7698" y="2978353"/>
            <a:ext cx="174955" cy="1822246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2653" y="2967456"/>
            <a:ext cx="174955" cy="1833143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59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Feb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77583" y="4112437"/>
            <a:ext cx="174955" cy="688162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52538" y="3326206"/>
            <a:ext cx="174955" cy="1474393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27493" y="2880283"/>
            <a:ext cx="174955" cy="192031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843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Mar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2423" y="3762908"/>
            <a:ext cx="174955" cy="1037691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77378" y="3392424"/>
            <a:ext cx="174955" cy="1408176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52333" y="4717618"/>
            <a:ext cx="174955" cy="8298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93279" y="4818888"/>
            <a:ext cx="624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A8D"/>
                </a:solidFill>
                <a:latin typeface="Calibri"/>
              </a:rPr>
              <a:t>Apr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148072"/>
            <a:ext cx="219456" cy="18288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512978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Baseline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48840" y="5148072"/>
            <a:ext cx="219456" cy="18288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23160" y="512978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RF + weather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77640" y="5148072"/>
            <a:ext cx="219456" cy="1828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51960" y="512978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XGBoost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06440" y="5148072"/>
            <a:ext cx="219456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0760" y="512978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XGB (negative)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5422392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RF models: positive Sharpe every single month — 12 out of 12.
Range: 16.5 to 28.3. No single month drives the result.
XGBoost: negative Sharpe in April 2025 — less stable across regimes.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0" y="13990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255"/>
                </a:solidFill>
                <a:latin typeface="Calibri"/>
              </a:rPr>
              <a:t>Does the cost assumption change anything?</a:t>
            </a:r>
          </a:p>
        </p:txBody>
      </p: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8046720" y="1783080"/>
          <a:ext cx="395020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41248"/>
                <a:gridCol w="841248"/>
                <a:gridCol w="987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0.10 €/MWh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0.30 €/MWh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0.60 €/MWh</a:t>
                      </a:r>
                    </a:p>
                  </a:txBody>
                  <a:tcPr>
                    <a:solidFill>
                      <a:srgbClr val="00225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10.73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10.53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10.23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RF w/o wx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19.64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19.44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19.14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RF with wx ★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19.66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19.46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19.16</a:t>
                      </a:r>
                    </a:p>
                  </a:txBody>
                  <a:tcPr>
                    <a:solidFill>
                      <a:srgbClr val="E0EB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18.98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18.78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18.47</a:t>
                      </a:r>
                    </a:p>
                  </a:txBody>
                  <a:tcPr>
                    <a:solidFill>
                      <a:srgbClr val="F4F6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8046720" y="4233672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Maximum change:
≈ 0.5 Sharpe points
across all 3 scenarios.
Not sensitive to costs.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07 — What We'd Do Differently — Honest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Self-critique is part of rigorous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14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44752"/>
            <a:ext cx="73152" cy="69494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4475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255"/>
                </a:solidFill>
                <a:latin typeface="Calibri"/>
              </a:rPr>
              <a:t>Only 12 months tested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444752"/>
            <a:ext cx="81381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Our normal-market test covers one year only. A full rolling walk-forward — retrain every year, test the next — would be more convincing.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12848"/>
            <a:ext cx="73152" cy="69494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1284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255"/>
                </a:solidFill>
                <a:latin typeface="Calibri"/>
              </a:rPr>
              <a:t>Perfect trade execution assumed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12848"/>
            <a:ext cx="81381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We assume bids are always matched at the market price. In reality, large or systematic trades can shift the price against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80944"/>
            <a:ext cx="73152" cy="69494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8094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255"/>
                </a:solidFill>
                <a:latin typeface="Calibri"/>
              </a:rPr>
              <a:t>Fixed position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980944"/>
            <a:ext cx="81381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We always trade 1 MW, regardless of how confident the model is. Sizing up on high-confidence signals could improve returns further.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49040"/>
            <a:ext cx="73152" cy="69494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4904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255"/>
                </a:solidFill>
                <a:latin typeface="Calibri"/>
              </a:rPr>
              <a:t>CO₂ price data incomplete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749040"/>
            <a:ext cx="81381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We could not source a reliable EU Allowance (EUA) series. 'Clean spark spreads' — a key market signal — were therefore approximated.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17136"/>
            <a:ext cx="73152" cy="69494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1713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255"/>
                </a:solidFill>
                <a:latin typeface="Calibri"/>
              </a:rPr>
              <a:t>Sharpe ratios look very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517136"/>
            <a:ext cx="81381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19× annualised sounds extreme vs equities. But electricity is a different asset: no leverage, prices mean-revert strongly, market is less competitive.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285232"/>
            <a:ext cx="73152" cy="69494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28523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255"/>
                </a:solidFill>
                <a:latin typeface="Calibri"/>
              </a:rPr>
              <a:t>No uncertainty quantification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85232"/>
            <a:ext cx="81381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Our model gives a point forecast. A probability range (e.g. 'price between 50 and 80 €/MWh') would improve the no-trade filter calibration.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07 —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15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35608"/>
            <a:ext cx="91440" cy="126187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72184"/>
            <a:ext cx="1097280" cy="34747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721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SQ1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721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Machine learning beats the simple baseline by a wide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874520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Average error drops from 33 to 17 €/MWh (−49%). The model explains 78% of price variation. Trading Sharpe: 10.5 → 19.5.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97480"/>
            <a:ext cx="91440" cy="126187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34056"/>
            <a:ext cx="1097280" cy="34747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340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SQ2 ✗/✓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73405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032"/>
                </a:solidFill>
                <a:latin typeface="Calibri"/>
              </a:rPr>
              <a:t>Weather data: neutral in calm markets, critical in crises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136392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Normal market: adding weather changes nothing (p = 0.572). 2022 crisis: weather becomes essential (DM = −13.27, p &lt; 0.001).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59352"/>
            <a:ext cx="91440" cy="1261872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95928"/>
            <a:ext cx="1097280" cy="347472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959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SQ3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995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255"/>
                </a:solidFill>
                <a:latin typeface="Calibri"/>
              </a:rPr>
              <a:t>The Information Redundancy Hypothesis is confirmed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398264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In calm markets, gas prices and demand forecasts already encode weather. The direct signal only matters when those proxies break.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221224"/>
            <a:ext cx="91440" cy="1261872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257800"/>
            <a:ext cx="1097280" cy="347472"/>
          </a:xfrm>
          <a:prstGeom prst="rect">
            <a:avLst/>
          </a:prstGeom>
          <a:solidFill>
            <a:srgbClr val="216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257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SQ4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257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BB4"/>
                </a:solidFill>
                <a:latin typeface="Calibri"/>
              </a:rPr>
              <a:t>Better forecasts translate directly into trading profits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660136"/>
            <a:ext cx="10058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RF earns 136K €/MW/yr, baseline earns 85K. Buy-and-hold earns zero → profits come from genuine directional skill.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537960"/>
            <a:ext cx="11548872" cy="5486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74536"/>
            <a:ext cx="11183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Key message: treat weather as a risk management signal — monitor it continuously, activate it aggressively when markets break down.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Anticipated Questions — Talking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20-40 min discussion with the thesis director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Oumedjeber &amp; Cambreleng  |  MSc DAAI  |  EDHEC Business School  |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16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35608"/>
            <a:ext cx="1154887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5389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Why sMAPE and not the standard MAPE error metric?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09928"/>
            <a:ext cx="11548872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46504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MAPE is meaningless near zero prices and explodes with negative prices — both occur in France. sMAPE stays between 0% and 200% and treats over/under-forecasts symmetrically.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68296"/>
            <a:ext cx="1154887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8658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Is the Diebold-Mariano test valid on 8,640 data points?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42616"/>
            <a:ext cx="11548872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79192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Yes. The Harvey-Leybourne-Newbold correction is specifically designed for small samples. With n = 8,640, the test has very high statistical power.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00984"/>
            <a:ext cx="1154887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19272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Why use last week (lag 168h) and not yesterday (lag 24h) as baseline?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75304"/>
            <a:ext cx="11548872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1188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Electricity prices have a strong day-of-week pattern (Monday peak, Sunday trough). Last week same hour is the industry-standard baseline (Weron, 2014).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233672"/>
            <a:ext cx="1154887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Why does XGBoost earn more but rank lower than RF?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507992"/>
            <a:ext cx="11548872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44568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XGBoost fits the training data more aggressively and then collapses in April 2025 (Sharpe = −0.99). RF is more stable. On risk-adjusted return (Calmar 328 vs 107), RF wins.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66360"/>
            <a:ext cx="11548872" cy="27432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84648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A Sharpe ratio of 19 seems unrealistically high — is the backtest flawed?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440680"/>
            <a:ext cx="11548872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77256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No — electricity markets are structurally different from equities: no leverage, strongly mean-reverting prices, less sophisticated competition. Compare models to each other, not to hedge fund standards.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3310128"/>
            <a:ext cx="1218895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042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A03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478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Lyam Oumedjeber   lyam.oumedjeber@edhec.com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502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Leo Cambreleng   leo.cambreleng@edhec.com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2569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8D"/>
                </a:solidFill>
                <a:latin typeface="Calibri"/>
              </a:rPr>
              <a:t>Thesis Director: Prof. Milos Vulanovic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74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032"/>
                </a:solidFill>
                <a:latin typeface="Calibri"/>
              </a:rPr>
              <a:t>Core finding: weather data is neutral in normal markets (p = 0.572)
but decisive in crises (DM = −13.27, p &lt; 0.001).
→ Information Redundancy Hypothesis — regime-conditional weather contribution.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8D"/>
                </a:solidFill>
                <a:latin typeface="Calibri"/>
              </a:rPr>
              <a:t>EDHEC Business School  |  MSc DAAI  |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